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1" r:id="rId4"/>
    <p:sldId id="258" r:id="rId5"/>
    <p:sldId id="259" r:id="rId6"/>
    <p:sldId id="267" r:id="rId7"/>
    <p:sldId id="276" r:id="rId8"/>
    <p:sldId id="277" r:id="rId9"/>
    <p:sldId id="278" r:id="rId10"/>
    <p:sldId id="285" r:id="rId11"/>
    <p:sldId id="283" r:id="rId12"/>
    <p:sldId id="279" r:id="rId13"/>
    <p:sldId id="280" r:id="rId14"/>
    <p:sldId id="281" r:id="rId15"/>
    <p:sldId id="284" r:id="rId16"/>
    <p:sldId id="287" r:id="rId17"/>
    <p:sldId id="288" r:id="rId18"/>
    <p:sldId id="264" r:id="rId19"/>
    <p:sldId id="286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 autoAdjust="0"/>
    <p:restoredTop sz="93867" autoAdjust="0"/>
  </p:normalViewPr>
  <p:slideViewPr>
    <p:cSldViewPr snapToGrid="0">
      <p:cViewPr varScale="1">
        <p:scale>
          <a:sx n="77" d="100"/>
          <a:sy n="77" d="100"/>
        </p:scale>
        <p:origin x="898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8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D7410-44E5-4A2B-B032-E43F2F4014C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76E41E-F2B6-4901-BB5B-D658B350E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36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7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25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48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55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32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73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84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46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26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68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37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19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46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92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02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42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76E41E-F2B6-4901-BB5B-D658B350E6B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0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D1C6-286D-002E-7F70-568B1FF25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B0200-845C-5CDB-FB7B-41F80B0A5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4767B-9C99-4D98-237E-C03304F35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526D9-D69A-49CF-BA7F-F89EDFA10DED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BE6C3-EB32-1D0D-13B4-C4DCD829C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158E5-9389-7635-7F75-CAED8BD5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1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CE21-A0D6-C2FD-8EE1-899046DC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3806B-7856-F36A-C61D-04AF6094C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9C275-0815-B853-97EE-6AFD4529B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DB02-B58C-4376-82FC-46BA33123A2C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4ACC2-33CE-7A96-F202-3CB939A1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3DAF4-8D55-C12A-8396-9E9A7D6F0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5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4F21-49E6-1F29-CE5A-272572D0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10E87-4572-C427-AFAA-D697E59CE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A38EA-AB68-DAE6-EFA1-5218E0948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EAB9-86D3-4FC6-9200-7AAED0274A78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39FDC-27CC-C5F2-98DC-263733DC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D4898-4FCC-2580-05AC-E7D5EE37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8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05A6-0FE2-6816-1086-46B5E4CB9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6F6B6-B120-9FD1-C5EC-880BDC624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99618-9BAB-113B-95D4-FAAF7F69D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14531-7DBA-F0AD-7591-ABEEC88FF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CE5B-74A0-4434-92B8-3270776FCFE8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9BCA-CCEE-0949-0F24-2C663D22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25B5A-0565-DAD3-D95F-0F012B59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3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A6EC-A66A-ADA1-2235-5539A921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B2473-5476-82F1-F28B-19E685CC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22848-44BF-8EC6-BF46-B42222A6D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E7C78-7846-8FAF-35E9-FD4F696A8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94189-F9D2-AAA7-9BA4-8624AA39C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1261B3-3AC1-7493-4B05-01319D7E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74B1-9DF9-44FB-AA6B-10AC8FD2991A}" type="datetime1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1E1E5-7DF8-5D82-FB63-C5E28B2E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CECFF3-E395-7B10-D9EE-EE0A1C7F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914B-3AA6-740B-266E-8D9E21D6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F0471-7ACE-D608-E050-45CABD8CC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9A56-5607-43AD-843D-6E927830E738}" type="datetime1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AD66E-BC59-1A7C-E5F6-7130708A0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193D8-A16F-39A6-837A-92C8E9F3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3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D364A-5F7D-9545-1E33-A2142615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6C12-28CC-4782-86CD-823B8414AEBD}" type="datetime1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EE96A-A611-0501-1F03-77EF1337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AFF26-3E9B-1CE4-DBD2-6B2254BEC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8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5C31-0D8E-BBF9-CA3A-7AC1B7E51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9B222-9A08-D855-6686-AADA1D12A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3F5F5-1834-9DDA-7E67-EF8D10105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079D2-C087-6353-F7A5-7A3D3A44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5883-7EB6-4751-ABA1-775B69F052B6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5D81A-E56A-CA92-8A62-E5E942A00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FAB02-0EED-A0CE-9201-AE45AC2C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79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02ADA-25D6-62CC-8819-48F75B61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07AF36-394A-B2BC-9077-3A6459158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E1F41-BE58-EBFD-575B-FB655A737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5FE37-61A8-95BC-F5B9-63883E95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05F4-CF16-42EC-8F66-8BBF572EEB72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E9EAA-F152-64EF-608F-8244F837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37296-A67B-005A-81A9-A4C2DF7D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53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BB63-5CF2-E688-80D7-9F10877F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D4274-2262-5752-1602-383AEF304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8B7D2-AAE5-A985-6A74-5F6CB2F92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E3E7-4097-44C0-8AC1-CDBC54CF30F9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5DE9C-8A5E-0FD5-3D0F-AADB279F7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85540-E536-6655-BD7A-78913ECD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42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B194E7-1C47-F89B-75C9-BD8793B77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E55B5-2D06-1DCE-9437-E16F21EF5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8543-89E0-A485-84FB-0DB783B12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B8C3-09CF-4341-B6A5-3167485B8974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2BA36-621E-144D-1D52-8D56828F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7E701-ED21-B1A6-3912-3729C99B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7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061BA1-4D0B-1DE6-CE56-6C05667E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C5F6D-28BF-D79E-2B94-52BC9822F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2B4AC-91BD-859F-3CA2-274DCBF72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7CBAB-84AA-47A8-AF43-7F57DA3C2C27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0E087-C3A9-E4BA-03C3-1ACA14DB4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D0BD4-0659-1C9A-A18C-ECA363A34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67169-4FCC-4819-80EA-58B20AD5B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1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8000" contrast="-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180" y="5879"/>
            <a:ext cx="12245179" cy="68092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868F1-67AC-3F5E-5543-25D117E40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455" y="403115"/>
            <a:ext cx="11836400" cy="151804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Cocoa Flower and Cocoa Pod Detection model using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99045" y="3970302"/>
            <a:ext cx="34287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- Bikram Regmi</a:t>
            </a:r>
          </a:p>
          <a:p>
            <a:r>
              <a:rPr lang="en-US" sz="2400" dirty="0">
                <a:solidFill>
                  <a:schemeClr val="bg2"/>
                </a:solidFill>
              </a:rPr>
              <a:t>- Mina Baidhya</a:t>
            </a:r>
          </a:p>
          <a:p>
            <a:r>
              <a:rPr lang="en-US" sz="2400" dirty="0">
                <a:solidFill>
                  <a:schemeClr val="bg2"/>
                </a:solidFill>
              </a:rPr>
              <a:t>- Prabhat Paudel</a:t>
            </a:r>
          </a:p>
          <a:p>
            <a:pPr algn="ctr"/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MS/ME Geoinformatics</a:t>
            </a:r>
          </a:p>
          <a:p>
            <a:r>
              <a:rPr lang="en-US" sz="2400" dirty="0">
                <a:solidFill>
                  <a:schemeClr val="bg2"/>
                </a:solidFill>
              </a:rPr>
              <a:t>Kathmandu University</a:t>
            </a:r>
          </a:p>
          <a:p>
            <a:r>
              <a:rPr lang="en-US" sz="2400" dirty="0">
                <a:solidFill>
                  <a:schemeClr val="bg2"/>
                </a:solidFill>
              </a:rPr>
              <a:t>Third Semester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088" y="2131290"/>
            <a:ext cx="1839012" cy="18390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7935" y="5000505"/>
            <a:ext cx="4248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2"/>
                </a:solidFill>
              </a:rPr>
              <a:t>Deep Learning in Remote Sensing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2"/>
                </a:solidFill>
              </a:rPr>
              <a:t>(GEOI 502)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2236" y="5910949"/>
            <a:ext cx="1848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January 25, 2026</a:t>
            </a:r>
          </a:p>
        </p:txBody>
      </p:sp>
    </p:spTree>
    <p:extLst>
      <p:ext uri="{BB962C8B-B14F-4D97-AF65-F5344CB8AC3E}">
        <p14:creationId xmlns:p14="http://schemas.microsoft.com/office/powerpoint/2010/main" val="1643882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F45A-4986-81F1-6322-7B63FB32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005"/>
            <a:ext cx="10515600" cy="1325563"/>
          </a:xfrm>
        </p:spPr>
        <p:txBody>
          <a:bodyPr/>
          <a:lstStyle/>
          <a:p>
            <a:r>
              <a:rPr lang="en-US" b="1" u="sng" dirty="0"/>
              <a:t>Outlines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619568"/>
            <a:ext cx="11186160" cy="4211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cs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Introduction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cs typeface="Arial" panose="020B0604020202020204" pitchFamily="34" charset="0"/>
              </a:rPr>
              <a:t> Objective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cs typeface="Arial" panose="020B0604020202020204" pitchFamily="34" charset="0"/>
              </a:rPr>
              <a:t>Dataset Description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cs typeface="Arial" panose="020B0604020202020204" pitchFamily="34" charset="0"/>
              </a:rPr>
              <a:t>Data Augmentation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cs typeface="Arial" panose="020B0604020202020204" pitchFamily="34" charset="0"/>
              </a:rPr>
              <a:t> Cocoa Flower and Cocoa Pod Detection Model Architecture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cs typeface="Arial" panose="020B0604020202020204" pitchFamily="34" charset="0"/>
              </a:rPr>
              <a:t> Experimental Results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cs typeface="Arial" panose="020B0604020202020204" pitchFamily="34" charset="0"/>
              </a:rPr>
              <a:t> Summary and Conclusion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cs typeface="Arial" panose="020B0604020202020204" pitchFamily="34" charset="0"/>
              </a:rPr>
              <a:t> Limitations and Future Work</a:t>
            </a:r>
            <a:endParaRPr lang="en-US" altLang="en-US" sz="32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10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F45A-4986-81F1-6322-7B63FB32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8E01-EF16-951A-9E2A-21D622277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96074" cy="44862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Object detection identifies what objects are present and where they are in an image</a:t>
            </a:r>
          </a:p>
          <a:p>
            <a:r>
              <a:rPr lang="en-US" altLang="en-US" dirty="0"/>
              <a:t>Outputs include </a:t>
            </a:r>
            <a:r>
              <a:rPr lang="en-US" altLang="en-US" dirty="0" err="1"/>
              <a:t>boundin</a:t>
            </a:r>
            <a:r>
              <a:rPr lang="en-US" altLang="en-US" dirty="0"/>
              <a:t> boxes, class labels, and confidence scores</a:t>
            </a:r>
          </a:p>
          <a:p>
            <a:r>
              <a:rPr lang="en-US" altLang="en-US" dirty="0"/>
              <a:t>Used in agriculture, autonomous vehicles, medical imaging, and surveillance</a:t>
            </a:r>
          </a:p>
          <a:p>
            <a:r>
              <a:rPr lang="en-US" dirty="0"/>
              <a:t>Monitoring cocoa flowers and pods is essential for yield estimation</a:t>
            </a:r>
          </a:p>
          <a:p>
            <a:r>
              <a:rPr lang="en-US" dirty="0"/>
              <a:t>Manual inspection is labor intensive and subjective</a:t>
            </a:r>
          </a:p>
          <a:p>
            <a:r>
              <a:rPr lang="en-US" dirty="0"/>
              <a:t>Automated vision-based analysis supports precision agriculture</a:t>
            </a:r>
          </a:p>
          <a:p>
            <a:r>
              <a:rPr lang="en-US" dirty="0"/>
              <a:t>Deep learning enables robust object detection in complex field environments</a:t>
            </a:r>
          </a:p>
          <a:p>
            <a:r>
              <a:rPr lang="en-US" dirty="0"/>
              <a:t>Region-based Convolutional Neural Network</a:t>
            </a:r>
          </a:p>
          <a:p>
            <a:r>
              <a:rPr lang="en-US" dirty="0"/>
              <a:t>Foundation of Fast and Faster R-CNN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50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F637-E6B2-B608-3594-EF8BE776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82" y="222068"/>
            <a:ext cx="10515600" cy="1054962"/>
          </a:xfrm>
        </p:spPr>
        <p:txBody>
          <a:bodyPr/>
          <a:lstStyle/>
          <a:p>
            <a:r>
              <a:rPr lang="en-US" b="1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D8073-654F-CD94-5AED-6A443D1D8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82" y="1500551"/>
            <a:ext cx="10898552" cy="3416890"/>
          </a:xfrm>
        </p:spPr>
        <p:txBody>
          <a:bodyPr>
            <a:noAutofit/>
          </a:bodyPr>
          <a:lstStyle/>
          <a:p>
            <a:r>
              <a:rPr lang="en-US" dirty="0"/>
              <a:t>To develop an object detection pipeline for cocoa flowers and pods</a:t>
            </a:r>
          </a:p>
          <a:p>
            <a:r>
              <a:rPr lang="en-US" dirty="0"/>
              <a:t>To perform accurate localization using bounding boxes</a:t>
            </a:r>
          </a:p>
          <a:p>
            <a:r>
              <a:rPr lang="en-US" dirty="0"/>
              <a:t>To address the challenge of limited annotated data</a:t>
            </a:r>
          </a:p>
          <a:p>
            <a:r>
              <a:rPr lang="en-US" dirty="0"/>
              <a:t>To maintain annotation consistency after augmentation</a:t>
            </a:r>
          </a:p>
          <a:p>
            <a:r>
              <a:rPr lang="en-US" dirty="0"/>
              <a:t>Use R-CNN based deep learning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65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6E9A-FAC5-CE07-2035-A003A5FA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84"/>
            <a:ext cx="10693400" cy="4926965"/>
          </a:xfrm>
        </p:spPr>
        <p:txBody>
          <a:bodyPr>
            <a:noAutofit/>
          </a:bodyPr>
          <a:lstStyle/>
          <a:p>
            <a:r>
              <a:rPr lang="en-US" dirty="0"/>
              <a:t>Total original images. 18</a:t>
            </a:r>
          </a:p>
          <a:p>
            <a:r>
              <a:rPr lang="en-US" dirty="0"/>
              <a:t>Data source: Field collected images provided by external contributors (</a:t>
            </a:r>
            <a:r>
              <a:rPr lang="en-US" dirty="0" err="1"/>
              <a:t>Arun</a:t>
            </a:r>
            <a:r>
              <a:rPr lang="en-US" dirty="0"/>
              <a:t> </a:t>
            </a:r>
            <a:r>
              <a:rPr lang="en-US" dirty="0" err="1"/>
              <a:t>Pratihast</a:t>
            </a:r>
            <a:r>
              <a:rPr lang="en-US" dirty="0"/>
              <a:t> )</a:t>
            </a:r>
          </a:p>
          <a:p>
            <a:r>
              <a:rPr lang="en-US" dirty="0"/>
              <a:t>Target classes: Flower &amp; Cocoa pod </a:t>
            </a:r>
          </a:p>
          <a:p>
            <a:r>
              <a:rPr lang="en-US" dirty="0" err="1"/>
              <a:t>Labling</a:t>
            </a:r>
            <a:r>
              <a:rPr lang="en-US" dirty="0"/>
              <a:t>  Format:  .XML with </a:t>
            </a:r>
            <a:r>
              <a:rPr lang="en-US" dirty="0" err="1"/>
              <a:t>labling</a:t>
            </a:r>
            <a:r>
              <a:rPr lang="en-US" dirty="0"/>
              <a:t> software </a:t>
            </a:r>
          </a:p>
          <a:p>
            <a:pPr marL="0" indent="0">
              <a:buNone/>
            </a:pPr>
            <a:r>
              <a:rPr lang="en-US" b="1" u="sng" dirty="0"/>
              <a:t>Limitation in the Dataset</a:t>
            </a:r>
          </a:p>
          <a:p>
            <a:r>
              <a:rPr lang="en-US" dirty="0"/>
              <a:t>Very small number of annotated samples</a:t>
            </a:r>
          </a:p>
          <a:p>
            <a:r>
              <a:rPr lang="en-US" dirty="0"/>
              <a:t>High background variability in field images</a:t>
            </a:r>
          </a:p>
          <a:p>
            <a:r>
              <a:rPr lang="en-US" dirty="0"/>
              <a:t>Risk of overfitting during deep learning training</a:t>
            </a:r>
          </a:p>
          <a:p>
            <a:r>
              <a:rPr lang="en-US" dirty="0"/>
              <a:t>Need for careful handling of bounding box annotations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30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6E9A-FAC5-CE07-2035-A003A5FA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40" y="1460500"/>
            <a:ext cx="10815320" cy="48958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Data Augmentation Strategy</a:t>
            </a:r>
          </a:p>
          <a:p>
            <a:r>
              <a:rPr lang="en-US" dirty="0"/>
              <a:t>Label consistent image augmentation applied</a:t>
            </a:r>
          </a:p>
          <a:p>
            <a:r>
              <a:rPr lang="en-US" dirty="0"/>
              <a:t>Bounding boxes transformed together with images</a:t>
            </a:r>
          </a:p>
          <a:p>
            <a:r>
              <a:rPr lang="en-US" dirty="0"/>
              <a:t>Invalid bounding boxes automatically filtered</a:t>
            </a:r>
          </a:p>
          <a:p>
            <a:r>
              <a:rPr lang="en-US" dirty="0"/>
              <a:t>Augmented data remains compatible with object detection models</a:t>
            </a:r>
          </a:p>
          <a:p>
            <a:pPr marL="0" indent="0">
              <a:buNone/>
            </a:pPr>
            <a:r>
              <a:rPr lang="en-US" b="1" u="sng" dirty="0"/>
              <a:t>Data Augmentation Techniques</a:t>
            </a:r>
          </a:p>
          <a:p>
            <a:r>
              <a:rPr lang="en-US" dirty="0"/>
              <a:t>Geometric transformations: Horizontal and vertical flipping, Rotation, Translation, and scaling</a:t>
            </a:r>
          </a:p>
          <a:p>
            <a:r>
              <a:rPr lang="en-US" dirty="0"/>
              <a:t>Color and illumination variation : Brightness, contrast, hue, saturation</a:t>
            </a:r>
          </a:p>
          <a:p>
            <a:r>
              <a:rPr lang="en-US" dirty="0"/>
              <a:t>Noise and blur effects: RGB shift, motion blur, Gaussian noise </a:t>
            </a:r>
          </a:p>
          <a:p>
            <a:r>
              <a:rPr lang="en-US" dirty="0"/>
              <a:t>Random crop followed by resizing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4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6E9A-FAC5-CE07-2035-A003A5FA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40" y="1460500"/>
            <a:ext cx="10815320" cy="489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Data Augmentation Results</a:t>
            </a:r>
          </a:p>
          <a:p>
            <a:r>
              <a:rPr lang="en-US" dirty="0"/>
              <a:t>Original images: 18</a:t>
            </a:r>
          </a:p>
          <a:p>
            <a:r>
              <a:rPr lang="en-US" dirty="0"/>
              <a:t>Total augmented dataset : 72 images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4E8AA-09D6-4671-A322-6F08A8307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850" y="1504106"/>
            <a:ext cx="5189670" cy="48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0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486" y="1180306"/>
            <a:ext cx="10137913" cy="1325563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Quality Control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6E9A-FAC5-CE07-2035-A003A5FA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40" y="2405270"/>
            <a:ext cx="10815320" cy="3951080"/>
          </a:xfrm>
        </p:spPr>
        <p:txBody>
          <a:bodyPr>
            <a:normAutofit/>
          </a:bodyPr>
          <a:lstStyle/>
          <a:p>
            <a:r>
              <a:rPr lang="en-US" dirty="0"/>
              <a:t>Bounding boxes clipped to image boundaries</a:t>
            </a:r>
          </a:p>
          <a:p>
            <a:r>
              <a:rPr lang="en-US" dirty="0"/>
              <a:t>Minimum bounding box size enforced</a:t>
            </a:r>
          </a:p>
          <a:p>
            <a:r>
              <a:rPr lang="en-US" dirty="0"/>
              <a:t>Invalid annotations removed automatically</a:t>
            </a:r>
          </a:p>
          <a:p>
            <a:r>
              <a:rPr lang="en-US" dirty="0"/>
              <a:t>.XML annotations validated after augmentation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B26CE2-2B5F-41EC-A3F5-22B2A8B06EC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Data Augmentation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4162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5949"/>
            <a:ext cx="10662920" cy="559435"/>
          </a:xfrm>
        </p:spPr>
        <p:txBody>
          <a:bodyPr>
            <a:normAutofit fontScale="9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en-US" b="1" dirty="0">
                <a:cs typeface="Arial" panose="020B0604020202020204" pitchFamily="34" charset="0"/>
              </a:rPr>
              <a:t>Cocoa Flower and Cocoa Pod Detection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6E9A-FAC5-CE07-2035-A003A5FA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9280"/>
            <a:ext cx="11229340" cy="4104639"/>
          </a:xfrm>
        </p:spPr>
        <p:txBody>
          <a:bodyPr>
            <a:normAutofit fontScale="92500"/>
          </a:bodyPr>
          <a:lstStyle/>
          <a:p>
            <a:r>
              <a:rPr lang="en-US" dirty="0"/>
              <a:t>Faster R CNN two stage object detector (coca pods and flower)</a:t>
            </a:r>
          </a:p>
          <a:p>
            <a:r>
              <a:rPr lang="en-US" dirty="0" err="1"/>
              <a:t>Pretrained</a:t>
            </a:r>
            <a:r>
              <a:rPr lang="en-US" dirty="0"/>
              <a:t> weights from COCO dataset</a:t>
            </a:r>
          </a:p>
          <a:p>
            <a:r>
              <a:rPr lang="en-US" dirty="0"/>
              <a:t>Detection head adapted for two object classes and background</a:t>
            </a:r>
          </a:p>
          <a:p>
            <a:endParaRPr lang="en-US" u="sng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u="sng" dirty="0"/>
              <a:t>What is R-CNN?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b="1" u="sng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/>
              <a:t>R-CNN stands for Region-based Convolutional Neural Network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/>
              <a:t>First deep learning model to combine region proposals + CNNs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/>
              <a:t>Designed to improve localization accuracy compared to traditional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16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en-US" b="1" dirty="0">
                <a:cs typeface="Arial" panose="020B0604020202020204" pitchFamily="34" charset="0"/>
              </a:rPr>
              <a:t>Cocoa Flower and Cocoa Pod Detection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6E9A-FAC5-CE07-2035-A003A5FA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980" y="1788161"/>
            <a:ext cx="11290300" cy="307848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u="sng" dirty="0"/>
              <a:t>Working Principle of R-CNN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/>
              <a:t>Generate region proposals using Selective Search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/>
              <a:t>Resize each region to a fixed size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/>
              <a:t>Extract features using a Convolutional Neural Network (CNN)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/>
              <a:t>Classify objects using a classifier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/>
              <a:t>Apply bounding box regression for refinement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90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72520" cy="579755"/>
          </a:xfrm>
        </p:spPr>
        <p:txBody>
          <a:bodyPr>
            <a:normAutofit fontScale="9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en-US" b="1" dirty="0">
                <a:cs typeface="Arial" panose="020B0604020202020204" pitchFamily="34" charset="0"/>
              </a:rPr>
              <a:t>Cocoa Flower and Cocoa Pod Detection Model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F06EA-ED00-4254-8E83-65E6D22ED234}"/>
              </a:ext>
            </a:extLst>
          </p:cNvPr>
          <p:cNvSpPr txBox="1"/>
          <p:nvPr/>
        </p:nvSpPr>
        <p:spPr>
          <a:xfrm>
            <a:off x="838200" y="1690688"/>
            <a:ext cx="501716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Overall Workflow</a:t>
            </a:r>
          </a:p>
          <a:p>
            <a:r>
              <a:rPr lang="en-US" sz="2400" dirty="0"/>
              <a:t>Input Images</a:t>
            </a:r>
          </a:p>
          <a:p>
            <a:r>
              <a:rPr lang="en-US" sz="2400" dirty="0"/>
              <a:t>        ↓</a:t>
            </a:r>
          </a:p>
          <a:p>
            <a:r>
              <a:rPr lang="en-US" sz="2400" dirty="0"/>
              <a:t>Image Annotation (</a:t>
            </a:r>
            <a:r>
              <a:rPr lang="en-US" sz="2400" dirty="0" err="1"/>
              <a:t>LabelImg</a:t>
            </a:r>
            <a:r>
              <a:rPr lang="en-US" sz="2400" dirty="0"/>
              <a:t>)</a:t>
            </a:r>
          </a:p>
          <a:p>
            <a:r>
              <a:rPr lang="en-US" sz="2400" dirty="0"/>
              <a:t>        ↓</a:t>
            </a:r>
          </a:p>
          <a:p>
            <a:r>
              <a:rPr lang="en-US" sz="2400" dirty="0"/>
              <a:t>Data Augmentation &amp; Transforms</a:t>
            </a:r>
          </a:p>
          <a:p>
            <a:r>
              <a:rPr lang="en-US" sz="2400" dirty="0"/>
              <a:t>        ↓</a:t>
            </a:r>
          </a:p>
          <a:p>
            <a:r>
              <a:rPr lang="en-US" sz="2400" dirty="0"/>
              <a:t>R-CNN / Faster R-CNN Model Training</a:t>
            </a:r>
          </a:p>
          <a:p>
            <a:r>
              <a:rPr lang="en-US" sz="2400" dirty="0"/>
              <a:t>        ↓</a:t>
            </a:r>
          </a:p>
          <a:p>
            <a:r>
              <a:rPr lang="en-US" sz="2400" dirty="0"/>
              <a:t>Validation &amp; Testing</a:t>
            </a:r>
          </a:p>
          <a:p>
            <a:r>
              <a:rPr lang="en-US" sz="2400" dirty="0"/>
              <a:t>        ↓</a:t>
            </a:r>
          </a:p>
          <a:p>
            <a:r>
              <a:rPr lang="en-US" sz="2400" dirty="0"/>
              <a:t>Detected Objects + Performance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A7D1AC-D3F9-414F-9B52-5ED962389319}"/>
              </a:ext>
            </a:extLst>
          </p:cNvPr>
          <p:cNvSpPr txBox="1"/>
          <p:nvPr/>
        </p:nvSpPr>
        <p:spPr>
          <a:xfrm>
            <a:off x="6035040" y="1690688"/>
            <a:ext cx="58720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Training pipeline flow</a:t>
            </a:r>
          </a:p>
          <a:p>
            <a:endParaRPr lang="en-US" sz="2400" b="1" dirty="0"/>
          </a:p>
          <a:p>
            <a:r>
              <a:rPr lang="en-US" sz="2400" dirty="0"/>
              <a:t>Load Dataset</a:t>
            </a:r>
          </a:p>
          <a:p>
            <a:r>
              <a:rPr lang="en-US" sz="2400" dirty="0"/>
              <a:t>        ↓</a:t>
            </a:r>
          </a:p>
          <a:p>
            <a:r>
              <a:rPr lang="en-US" sz="2400" dirty="0"/>
              <a:t>Forward Pass (CNN + Region Proposals)</a:t>
            </a:r>
          </a:p>
          <a:p>
            <a:r>
              <a:rPr lang="en-US" sz="2400" dirty="0"/>
              <a:t>        ↓</a:t>
            </a:r>
          </a:p>
          <a:p>
            <a:r>
              <a:rPr lang="en-US" sz="2400" dirty="0"/>
              <a:t>Loss Calculation</a:t>
            </a:r>
          </a:p>
          <a:p>
            <a:r>
              <a:rPr lang="en-US" sz="2400" dirty="0"/>
              <a:t>        ↓</a:t>
            </a:r>
          </a:p>
          <a:p>
            <a:r>
              <a:rPr lang="en-US" sz="2400" dirty="0"/>
              <a:t>Backpropagation</a:t>
            </a:r>
          </a:p>
          <a:p>
            <a:r>
              <a:rPr lang="en-US" sz="2400" dirty="0"/>
              <a:t>        ↓</a:t>
            </a:r>
          </a:p>
          <a:p>
            <a:r>
              <a:rPr lang="en-US" sz="2400" dirty="0"/>
              <a:t>Model Weight Update</a:t>
            </a:r>
          </a:p>
        </p:txBody>
      </p:sp>
    </p:spTree>
    <p:extLst>
      <p:ext uri="{BB962C8B-B14F-4D97-AF65-F5344CB8AC3E}">
        <p14:creationId xmlns:p14="http://schemas.microsoft.com/office/powerpoint/2010/main" val="1081899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en-US" b="1" dirty="0">
                <a:cs typeface="Arial" panose="020B0604020202020204" pitchFamily="34" charset="0"/>
              </a:rPr>
              <a:t>Cocoa Flower and Cocoa Pod Detection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6E9A-FAC5-CE07-2035-A003A5FA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40" y="2265680"/>
            <a:ext cx="8557259" cy="2956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Training Configuration</a:t>
            </a:r>
          </a:p>
          <a:p>
            <a:r>
              <a:rPr lang="en-US" dirty="0"/>
              <a:t>Framework: </a:t>
            </a:r>
            <a:r>
              <a:rPr lang="en-US" dirty="0" err="1"/>
              <a:t>PyTorch</a:t>
            </a:r>
            <a:r>
              <a:rPr lang="en-US" dirty="0"/>
              <a:t> and </a:t>
            </a:r>
            <a:r>
              <a:rPr lang="en-US" dirty="0" err="1"/>
              <a:t>Torchvision</a:t>
            </a:r>
            <a:endParaRPr lang="en-US" dirty="0"/>
          </a:p>
          <a:p>
            <a:r>
              <a:rPr lang="en-US" dirty="0"/>
              <a:t>Training epochs: 100 epochs</a:t>
            </a:r>
          </a:p>
          <a:p>
            <a:r>
              <a:rPr lang="en-US" dirty="0"/>
              <a:t>Execution environment: Google Colab GPU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2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en-US" b="1" dirty="0">
                <a:cs typeface="Arial" panose="020B0604020202020204" pitchFamily="34" charset="0"/>
              </a:rPr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6E9A-FAC5-CE07-2035-A003A5FA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40" y="1690688"/>
            <a:ext cx="10815320" cy="46656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Evaluation performed on validation dataset with annotations</a:t>
            </a:r>
          </a:p>
          <a:p>
            <a:r>
              <a:rPr lang="en-US" dirty="0"/>
              <a:t>Intersection over Union used for matching predictions and ground truth</a:t>
            </a:r>
          </a:p>
          <a:p>
            <a:r>
              <a:rPr lang="en-US" dirty="0"/>
              <a:t>Confidence threshold score =0.55</a:t>
            </a:r>
          </a:p>
          <a:p>
            <a:r>
              <a:rPr lang="en-US" dirty="0" err="1"/>
              <a:t>IoU</a:t>
            </a:r>
            <a:r>
              <a:rPr lang="en-US" dirty="0"/>
              <a:t> threshold =0.55</a:t>
            </a:r>
          </a:p>
          <a:p>
            <a:r>
              <a:rPr lang="en-US" dirty="0"/>
              <a:t>Metrics reported</a:t>
            </a:r>
          </a:p>
          <a:p>
            <a:pPr marL="457200" lvl="1" indent="0">
              <a:buNone/>
            </a:pPr>
            <a:r>
              <a:rPr lang="en-US" dirty="0"/>
              <a:t>--- Calculating Metrics (</a:t>
            </a:r>
            <a:r>
              <a:rPr lang="en-US" dirty="0" err="1"/>
              <a:t>IoU</a:t>
            </a:r>
            <a:r>
              <a:rPr lang="en-US" dirty="0"/>
              <a:t> Thresh: 0.55, Score Thresh: 0.55) ---</a:t>
            </a:r>
          </a:p>
          <a:p>
            <a:pPr marL="457200" lvl="1" indent="0">
              <a:buNone/>
            </a:pPr>
            <a:r>
              <a:rPr lang="en-US" dirty="0"/>
              <a:t>True Positives : 360</a:t>
            </a:r>
          </a:p>
          <a:p>
            <a:pPr marL="457200" lvl="1" indent="0">
              <a:buNone/>
            </a:pPr>
            <a:r>
              <a:rPr lang="en-US" dirty="0"/>
              <a:t>False Positives: 86</a:t>
            </a:r>
          </a:p>
          <a:p>
            <a:pPr marL="457200" lvl="1" indent="0">
              <a:buNone/>
            </a:pPr>
            <a:r>
              <a:rPr lang="en-US" dirty="0"/>
              <a:t>False Negatives: 590</a:t>
            </a:r>
          </a:p>
          <a:p>
            <a:pPr marL="457200" lvl="1" indent="0">
              <a:buNone/>
            </a:pPr>
            <a:r>
              <a:rPr lang="en-US" dirty="0"/>
              <a:t>------------------------------</a:t>
            </a:r>
          </a:p>
          <a:p>
            <a:pPr marL="457200" lvl="1" indent="0">
              <a:buNone/>
            </a:pPr>
            <a:r>
              <a:rPr lang="en-US" dirty="0"/>
              <a:t>Precision      : 0.8072</a:t>
            </a:r>
          </a:p>
          <a:p>
            <a:pPr marL="457200" lvl="1" indent="0">
              <a:buNone/>
            </a:pPr>
            <a:r>
              <a:rPr lang="en-US" dirty="0"/>
              <a:t>Recall         : 0.3789</a:t>
            </a:r>
          </a:p>
          <a:p>
            <a:pPr marL="457200" lvl="1" indent="0">
              <a:buNone/>
            </a:pPr>
            <a:r>
              <a:rPr lang="en-US" dirty="0"/>
              <a:t>F1-Score       : 0.5158</a:t>
            </a:r>
          </a:p>
          <a:p>
            <a:pPr marL="457200" lvl="1" indent="0">
              <a:buNone/>
            </a:pPr>
            <a:r>
              <a:rPr lang="en-US" dirty="0"/>
              <a:t>------------------------------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69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en-US" b="1" dirty="0">
                <a:cs typeface="Arial" panose="020B0604020202020204" pitchFamily="34" charset="0"/>
              </a:rPr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6E9A-FAC5-CE07-2035-A003A5FA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40" y="1690688"/>
            <a:ext cx="6546178" cy="4665662"/>
          </a:xfrm>
        </p:spPr>
        <p:txBody>
          <a:bodyPr>
            <a:normAutofit/>
          </a:bodyPr>
          <a:lstStyle/>
          <a:p>
            <a:r>
              <a:rPr lang="en-US" dirty="0"/>
              <a:t>Training loss shows consistent convergence behavior</a:t>
            </a:r>
          </a:p>
          <a:p>
            <a:r>
              <a:rPr lang="en-US" dirty="0"/>
              <a:t>Model successfully learns object localization</a:t>
            </a:r>
          </a:p>
          <a:p>
            <a:r>
              <a:rPr lang="en-US" dirty="0"/>
              <a:t>High precision achieved under strict </a:t>
            </a:r>
            <a:r>
              <a:rPr lang="en-US" dirty="0" err="1"/>
              <a:t>IoU</a:t>
            </a:r>
            <a:r>
              <a:rPr lang="en-US" dirty="0"/>
              <a:t> threshold</a:t>
            </a:r>
          </a:p>
          <a:p>
            <a:r>
              <a:rPr lang="en-US" dirty="0"/>
              <a:t>Qualitative results demonstrate accurate bounding box placement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D4D19-D763-4664-A648-329AF9F8A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60" y="1271051"/>
            <a:ext cx="5107940" cy="50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07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7D1-5481-E8F7-6D8B-8D716A4E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118"/>
          </a:xfrm>
        </p:spPr>
        <p:txBody>
          <a:bodyPr>
            <a:normAutofit fontScale="9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</a:pPr>
            <a:r>
              <a:rPr lang="en-US" altLang="en-US" b="1" dirty="0">
                <a:cs typeface="Arial" panose="020B0604020202020204" pitchFamily="34" charset="0"/>
              </a:rPr>
              <a:t>Experimental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DEEBB0-D906-4C18-90DC-AA87A5826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215" y="834887"/>
            <a:ext cx="5612785" cy="55214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059162-4BD1-47FA-B70C-2C6D4C36D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48" y="1074583"/>
            <a:ext cx="5867052" cy="564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5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3E3A-A921-5D93-4E13-2388D1E1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Analysis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239213-DA26-98B5-0AAC-1BECDD2015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326115"/>
              </p:ext>
            </p:extLst>
          </p:nvPr>
        </p:nvGraphicFramePr>
        <p:xfrm>
          <a:off x="838200" y="1966155"/>
          <a:ext cx="7763704" cy="2457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926">
                  <a:extLst>
                    <a:ext uri="{9D8B030D-6E8A-4147-A177-3AD203B41FA5}">
                      <a16:colId xmlns:a16="http://schemas.microsoft.com/office/drawing/2014/main" val="2841758641"/>
                    </a:ext>
                  </a:extLst>
                </a:gridCol>
                <a:gridCol w="1940926">
                  <a:extLst>
                    <a:ext uri="{9D8B030D-6E8A-4147-A177-3AD203B41FA5}">
                      <a16:colId xmlns:a16="http://schemas.microsoft.com/office/drawing/2014/main" val="2553791239"/>
                    </a:ext>
                  </a:extLst>
                </a:gridCol>
                <a:gridCol w="1940926">
                  <a:extLst>
                    <a:ext uri="{9D8B030D-6E8A-4147-A177-3AD203B41FA5}">
                      <a16:colId xmlns:a16="http://schemas.microsoft.com/office/drawing/2014/main" val="2004657189"/>
                    </a:ext>
                  </a:extLst>
                </a:gridCol>
                <a:gridCol w="1940926">
                  <a:extLst>
                    <a:ext uri="{9D8B030D-6E8A-4147-A177-3AD203B41FA5}">
                      <a16:colId xmlns:a16="http://schemas.microsoft.com/office/drawing/2014/main" val="2902587777"/>
                    </a:ext>
                  </a:extLst>
                </a:gridCol>
              </a:tblGrid>
              <a:tr h="8838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Object Class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Manual Count (Ground Truth)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AI Model Detection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Accuracy vs Manual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292320729"/>
                  </a:ext>
                </a:extLst>
              </a:tr>
              <a:tr h="5245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 Flowers</a:t>
                      </a:r>
                      <a:endParaRPr lang="en-US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55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42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76.36%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274075555"/>
                  </a:ext>
                </a:extLst>
              </a:tr>
              <a:tr h="5245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Cocoa Pods</a:t>
                      </a:r>
                      <a:endParaRPr lang="en-US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6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50.0%</a:t>
                      </a:r>
                      <a:endParaRPr lang="en-US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478172974"/>
                  </a:ext>
                </a:extLst>
              </a:tr>
              <a:tr h="5245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Total Objects</a:t>
                      </a:r>
                      <a:endParaRPr lang="en-US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61</a:t>
                      </a:r>
                      <a:endParaRPr lang="en-US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45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73.77%</a:t>
                      </a:r>
                      <a:endParaRPr lang="en-US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05405195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6E467-0EFD-C8A0-E104-5417B652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83B5BE-CD97-9965-1C6C-150C771D2855}"/>
              </a:ext>
            </a:extLst>
          </p:cNvPr>
          <p:cNvSpPr txBox="1">
            <a:spLocks/>
          </p:cNvSpPr>
          <p:nvPr/>
        </p:nvSpPr>
        <p:spPr>
          <a:xfrm>
            <a:off x="517988" y="95203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Detection Accuracy (Image 1_2.jpg)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05A121-6F5F-ABD5-8889-5E91191057EC}"/>
              </a:ext>
            </a:extLst>
          </p:cNvPr>
          <p:cNvSpPr txBox="1">
            <a:spLocks/>
          </p:cNvSpPr>
          <p:nvPr/>
        </p:nvSpPr>
        <p:spPr>
          <a:xfrm>
            <a:off x="517988" y="42366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Time</a:t>
            </a:r>
            <a:r>
              <a:rPr lang="en-US" sz="3600" dirty="0"/>
              <a:t> </a:t>
            </a:r>
            <a:r>
              <a:rPr lang="en-US" sz="3600" b="1" dirty="0"/>
              <a:t>Efficiency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DFF52FA-6E29-6A5D-1966-2298ACDA2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141" y="5153918"/>
            <a:ext cx="970265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counting: 2 minutes (120 seconds)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processing: 0.114 seconds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is ~1,090 times faster than manual inspection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processing of large datasets within seconds</a:t>
            </a:r>
          </a:p>
        </p:txBody>
      </p:sp>
    </p:spTree>
    <p:extLst>
      <p:ext uri="{BB962C8B-B14F-4D97-AF65-F5344CB8AC3E}">
        <p14:creationId xmlns:p14="http://schemas.microsoft.com/office/powerpoint/2010/main" val="2790079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0DC9-CA11-5FC2-4559-38202FED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B1770-404D-DEC5-BA8D-95AD441C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A9F92-D64B-7C16-A9C6-33E4ECFC1518}"/>
              </a:ext>
            </a:extLst>
          </p:cNvPr>
          <p:cNvSpPr txBox="1"/>
          <p:nvPr/>
        </p:nvSpPr>
        <p:spPr>
          <a:xfrm>
            <a:off x="5419370" y="4421079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Log showing inference time (0.114s) and detected counts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5B5576-7FD0-1FCF-B8D7-45F4D5688EFA}"/>
              </a:ext>
            </a:extLst>
          </p:cNvPr>
          <p:cNvSpPr txBox="1"/>
          <p:nvPr/>
        </p:nvSpPr>
        <p:spPr>
          <a:xfrm>
            <a:off x="562510" y="5760370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AI detection output for flowers and pods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02D1BC-D7A1-31ED-AD4A-40456F759CBC}"/>
              </a:ext>
            </a:extLst>
          </p:cNvPr>
          <p:cNvSpPr txBox="1"/>
          <p:nvPr/>
        </p:nvSpPr>
        <p:spPr>
          <a:xfrm>
            <a:off x="3884488" y="625251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Confirms model accuracy and extreme speed visually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AC6F31-46F1-493E-8658-4F4F84688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653" y="661419"/>
            <a:ext cx="5771147" cy="352836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0573369-3803-4842-BF0C-426E21DDA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57" y="1382620"/>
            <a:ext cx="5054349" cy="427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609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45CB-0289-F27F-9F69-7209EA7C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b="1" dirty="0"/>
              <a:t>and Conclusion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18</a:t>
            </a:fld>
            <a:endParaRPr lang="en-US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25B5B1-115E-1E90-4E09-D83748AFB5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126" y="1145359"/>
            <a:ext cx="11907748" cy="5051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lnSpc>
                <a:spcPct val="80000"/>
              </a:lnSpc>
              <a:spcAft>
                <a:spcPct val="0"/>
              </a:spcAft>
              <a:buClrTx/>
              <a:buSzTx/>
              <a:buNone/>
              <a:tabLst/>
              <a:defRPr sz="2000"/>
            </a:pPr>
            <a:endParaRPr lang="en-US" altLang="en-US" sz="3000" dirty="0"/>
          </a:p>
          <a:p>
            <a:pPr marR="0" lvl="0" fontAlgn="base">
              <a:lnSpc>
                <a:spcPct val="80000"/>
              </a:lnSpc>
              <a:spcAft>
                <a:spcPct val="0"/>
              </a:spcAft>
              <a:buClrTx/>
              <a:buSzTx/>
              <a:tabLst/>
              <a:defRPr sz="2000"/>
            </a:pPr>
            <a:r>
              <a:rPr lang="en-US" altLang="en-US" sz="3000" dirty="0"/>
              <a:t>Developed a deep learning system to detect flowers and cocoa pods from field images. Used a small Pascal VOC dataset. Applied data augmentation to improve model generalization.</a:t>
            </a:r>
          </a:p>
          <a:p>
            <a:pPr marR="0" lvl="0" fontAlgn="base">
              <a:lnSpc>
                <a:spcPct val="80000"/>
              </a:lnSpc>
              <a:spcAft>
                <a:spcPct val="0"/>
              </a:spcAft>
              <a:buClrTx/>
              <a:buSzTx/>
              <a:tabLst/>
              <a:defRPr sz="2000"/>
            </a:pPr>
            <a:r>
              <a:rPr lang="en-US" altLang="en-US" sz="3000" dirty="0"/>
              <a:t>Fine-tuned a Faster R-CNN with ResNet50 FPN backbone pretrained on COCO. Trained with 100 epochs, learning rate 0.005, batch size 2, in </a:t>
            </a:r>
            <a:r>
              <a:rPr lang="en-US" altLang="en-US" sz="3000" dirty="0" err="1"/>
              <a:t>PyTorch</a:t>
            </a:r>
            <a:r>
              <a:rPr lang="en-US" altLang="en-US" sz="3000" dirty="0"/>
              <a:t> on GPU.</a:t>
            </a:r>
          </a:p>
          <a:p>
            <a:pPr marR="0" lvl="0" fontAlgn="base">
              <a:lnSpc>
                <a:spcPct val="80000"/>
              </a:lnSpc>
              <a:spcAft>
                <a:spcPct val="0"/>
              </a:spcAft>
              <a:buClrTx/>
              <a:buSzTx/>
              <a:tabLst/>
              <a:defRPr sz="2000"/>
            </a:pPr>
            <a:r>
              <a:rPr lang="en-US" altLang="en-US" sz="3000" dirty="0"/>
              <a:t>Evaluated using precision, recall, and F1-score. Used </a:t>
            </a:r>
            <a:r>
              <a:rPr lang="en-US" altLang="en-US" sz="3000" dirty="0" err="1"/>
              <a:t>IoU</a:t>
            </a:r>
            <a:r>
              <a:rPr lang="en-US" altLang="en-US" sz="3000" dirty="0"/>
              <a:t> threshold 0.55 and confidence 0.55. Visualized predictions and per-image detection counts.</a:t>
            </a:r>
          </a:p>
          <a:p>
            <a:pPr marR="0" lvl="0" fontAlgn="base">
              <a:lnSpc>
                <a:spcPct val="80000"/>
              </a:lnSpc>
              <a:spcAft>
                <a:spcPct val="0"/>
              </a:spcAft>
              <a:buClrTx/>
              <a:buSzTx/>
              <a:tabLst/>
              <a:defRPr sz="2000"/>
            </a:pPr>
            <a:r>
              <a:rPr lang="en-US" altLang="en-US" sz="3000" dirty="0"/>
              <a:t>Created a full end-to-end pipeline for data preparation, augmentation, training, evaluation, and visualization. </a:t>
            </a:r>
          </a:p>
        </p:txBody>
      </p:sp>
    </p:spTree>
    <p:extLst>
      <p:ext uri="{BB962C8B-B14F-4D97-AF65-F5344CB8AC3E}">
        <p14:creationId xmlns:p14="http://schemas.microsoft.com/office/powerpoint/2010/main" val="2082822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45CB-0289-F27F-9F69-7209EA7C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and Future Work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01BFFE-8C3B-B9F8-C0C2-99E16362E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4"/>
            <a:ext cx="10855960" cy="4636135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US" sz="3200" b="1" u="sng" dirty="0"/>
              <a:t>Limitations</a:t>
            </a:r>
          </a:p>
          <a:p>
            <a:pPr>
              <a:defRPr sz="2000"/>
            </a:pPr>
            <a:r>
              <a:rPr lang="en-US" sz="3200" dirty="0"/>
              <a:t>Extremely small original dataset</a:t>
            </a:r>
          </a:p>
          <a:p>
            <a:pPr>
              <a:defRPr sz="2000"/>
            </a:pPr>
            <a:r>
              <a:rPr lang="en-US" sz="3200" dirty="0"/>
              <a:t>Image diversity of field conditions</a:t>
            </a:r>
          </a:p>
          <a:p>
            <a:pPr>
              <a:defRPr sz="2000"/>
            </a:pPr>
            <a:r>
              <a:rPr lang="en-US" sz="3200"/>
              <a:t>Not </a:t>
            </a:r>
            <a:r>
              <a:rPr lang="en-US" sz="3200" dirty="0"/>
              <a:t>suitable for real-time detection</a:t>
            </a:r>
          </a:p>
          <a:p>
            <a:pPr marL="0" indent="0">
              <a:buNone/>
              <a:defRPr sz="2000"/>
            </a:pPr>
            <a:r>
              <a:rPr lang="en-US" sz="3200" b="1" u="sng" dirty="0"/>
              <a:t>Future work</a:t>
            </a:r>
          </a:p>
          <a:p>
            <a:pPr>
              <a:defRPr sz="2000"/>
            </a:pPr>
            <a:r>
              <a:rPr lang="en-US" sz="3200" dirty="0"/>
              <a:t>Collection of larger annotated datasets</a:t>
            </a:r>
          </a:p>
          <a:p>
            <a:pPr>
              <a:defRPr sz="2000"/>
            </a:pPr>
            <a:r>
              <a:rPr lang="en-US" sz="3200" dirty="0"/>
              <a:t>Standard evaluation using mean average precision</a:t>
            </a:r>
          </a:p>
          <a:p>
            <a:pPr>
              <a:defRPr sz="2000"/>
            </a:pPr>
            <a:r>
              <a:rPr lang="en-US" sz="3200" dirty="0"/>
              <a:t>Deployment oriented lightweight detection models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7169-4FCC-4819-80EA-58B20AD5B235}" type="slidenum">
              <a:rPr lang="en-US" smtClean="0"/>
              <a:pPr/>
              <a:t>19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21658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01BFFE-8C3B-B9F8-C0C2-99E16362E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80" y="98234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  <a:defRPr sz="2000"/>
            </a:pPr>
            <a:endParaRPr lang="en-GB" sz="3200" dirty="0"/>
          </a:p>
          <a:p>
            <a:pPr marL="0" indent="0" algn="ctr">
              <a:buNone/>
              <a:defRPr sz="2000"/>
            </a:pPr>
            <a:r>
              <a:rPr lang="en-GB" sz="3200" b="1" dirty="0"/>
              <a:t>Any Query?</a:t>
            </a:r>
          </a:p>
          <a:p>
            <a:pPr marL="0" indent="0" algn="ctr">
              <a:buNone/>
              <a:defRPr sz="2000"/>
            </a:pPr>
            <a:endParaRPr lang="en-GB" sz="3200" dirty="0"/>
          </a:p>
          <a:p>
            <a:pPr marL="0" indent="0" algn="ctr">
              <a:buNone/>
              <a:defRPr sz="2000"/>
            </a:pPr>
            <a:r>
              <a:rPr lang="en-GB" sz="3200" dirty="0"/>
              <a:t>&gt;&gt;&gt;&gt;&gt;&gt;&gt;&gt;&gt;&gt;&gt;&gt;&gt;&gt;&gt;&gt;&gt;</a:t>
            </a:r>
            <a:endParaRPr lang="en-GB" sz="3200" b="1" dirty="0"/>
          </a:p>
          <a:p>
            <a:pPr marL="0" indent="0" algn="ctr">
              <a:buNone/>
              <a:defRPr sz="2000"/>
            </a:pPr>
            <a:endParaRPr lang="en-GB" sz="3200" b="1" dirty="0"/>
          </a:p>
          <a:p>
            <a:pPr marL="0" indent="0" algn="ctr">
              <a:buNone/>
              <a:defRPr sz="2000"/>
            </a:pPr>
            <a:endParaRPr lang="en-GB" sz="3200" b="1" dirty="0"/>
          </a:p>
          <a:p>
            <a:pPr marL="0" indent="0" algn="ctr">
              <a:buNone/>
              <a:defRPr sz="2000"/>
            </a:pPr>
            <a:endParaRPr lang="en-GB" sz="3200" b="1" dirty="0"/>
          </a:p>
          <a:p>
            <a:pPr marL="0" indent="0" algn="ctr">
              <a:buNone/>
              <a:defRPr sz="2000"/>
            </a:pPr>
            <a:endParaRPr lang="en-GB" sz="3200" b="1" dirty="0"/>
          </a:p>
          <a:p>
            <a:pPr marL="0" indent="0" algn="ctr">
              <a:buNone/>
              <a:defRPr sz="2000"/>
            </a:pPr>
            <a:r>
              <a:rPr lang="en-GB" sz="3200" b="1" dirty="0"/>
              <a:t>Thank You!</a:t>
            </a:r>
          </a:p>
          <a:p>
            <a:pPr marL="0" indent="0" algn="ctr">
              <a:buNone/>
              <a:defRPr sz="2000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72140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1927</TotalTime>
  <Words>966</Words>
  <Application>Microsoft Office PowerPoint</Application>
  <PresentationFormat>Widescreen</PresentationFormat>
  <Paragraphs>220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Wingdings</vt:lpstr>
      <vt:lpstr>Office Theme</vt:lpstr>
      <vt:lpstr>Cocoa Flower and Cocoa Pod Detection model using Deep Learning</vt:lpstr>
      <vt:lpstr>Outlines</vt:lpstr>
      <vt:lpstr>Introduction</vt:lpstr>
      <vt:lpstr>Objective</vt:lpstr>
      <vt:lpstr>Dataset Description</vt:lpstr>
      <vt:lpstr>Data Augmentation</vt:lpstr>
      <vt:lpstr>Data Augmentation</vt:lpstr>
      <vt:lpstr>Quality Control and Validation</vt:lpstr>
      <vt:lpstr>Cocoa Flower and Cocoa Pod Detection Model Architecture</vt:lpstr>
      <vt:lpstr>Cocoa Flower and Cocoa Pod Detection Model Architecture</vt:lpstr>
      <vt:lpstr>Cocoa Flower and Cocoa Pod Detection Model Architecture</vt:lpstr>
      <vt:lpstr>Cocoa Flower and Cocoa Pod Detection Model Architecture</vt:lpstr>
      <vt:lpstr>Experimental Results</vt:lpstr>
      <vt:lpstr>Experimental Results</vt:lpstr>
      <vt:lpstr>Experimental Results</vt:lpstr>
      <vt:lpstr>Performance Analysis</vt:lpstr>
      <vt:lpstr>Visual Proof</vt:lpstr>
      <vt:lpstr>Summary and Conclusion</vt:lpstr>
      <vt:lpstr>Limitations and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 (CNNs) and EfficientNet Architecture</dc:title>
  <dc:creator>Bikram Regmi</dc:creator>
  <cp:lastModifiedBy>Mina Baidhya</cp:lastModifiedBy>
  <cp:revision>104</cp:revision>
  <dcterms:created xsi:type="dcterms:W3CDTF">2025-08-17T08:01:31Z</dcterms:created>
  <dcterms:modified xsi:type="dcterms:W3CDTF">2026-01-25T13:16:13Z</dcterms:modified>
</cp:coreProperties>
</file>